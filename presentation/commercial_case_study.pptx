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Pharmaceutical Market &amp; Prescription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Results &amp; Commercial Decisions</a:t>
            </a:r>
          </a:p>
          <a:p>
            <a:r>
              <a:t>NHS Prescription Cost Analysis (July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&amp;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Highest Volume Chapters: Cardiovascular System drives the most prescriptions, followed by Central Nervous System.</a:t>
            </a:r>
          </a:p>
          <a:p>
            <a:r>
              <a:t>Highest Expenditure Chapters: Endocrine System and Central Nervous System dominate the NHS budget.</a:t>
            </a:r>
          </a:p>
          <a:p>
            <a:r>
              <a:t>Top Expenditure Products: The most expensive single product is FreeStyle Libre 2 Plus Sensor, indicating a high-cost specialty or high-volume chronic medication.</a:t>
            </a:r>
          </a:p>
          <a:p>
            <a:r>
              <a:t>Regional Hotspots: The highest spending ICBs are QWO and S1Y5D, representing concentrated market opportunities.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Dynamics: Prescription Volumes</a:t>
            </a:r>
          </a:p>
        </p:txBody>
      </p:sp>
      <p:pic>
        <p:nvPicPr>
          <p:cNvPr id="3" name="Picture 2" descr="market_volume_by_chap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Insight: Cardiovascular System has the highest prescription count, showing strong patient demand.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Dynamics: Expenditure (NIC)</a:t>
            </a:r>
          </a:p>
        </p:txBody>
      </p:sp>
      <p:pic>
        <p:nvPicPr>
          <p:cNvPr id="3" name="Picture 2" descr="market_cost_by_chap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Insight: Endocrine System leads in spending. High volume doesn't always equal high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Deep Dive: Top Products by Cost</a:t>
            </a:r>
          </a:p>
        </p:txBody>
      </p:sp>
      <p:pic>
        <p:nvPicPr>
          <p:cNvPr id="3" name="Picture 2" descr="top_products_by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738330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rPr dirty="0"/>
              <a:t>Insight: </a:t>
            </a:r>
            <a:r>
              <a:rPr dirty="0" err="1"/>
              <a:t>FreeStyle</a:t>
            </a:r>
            <a:r>
              <a:rPr dirty="0"/>
              <a:t> Libre 2 Plus Sensor and Mounjaro </a:t>
            </a:r>
            <a:r>
              <a:rPr dirty="0" err="1"/>
              <a:t>KwikPen</a:t>
            </a:r>
            <a:r>
              <a:rPr dirty="0"/>
              <a:t> 5mg/0.6ml </a:t>
            </a:r>
            <a:r>
              <a:rPr dirty="0" err="1"/>
              <a:t>inj</a:t>
            </a:r>
            <a:r>
              <a:rPr dirty="0"/>
              <a:t> 2.4ml pre-filled pens </a:t>
            </a:r>
            <a:endParaRPr lang="en-IN" dirty="0"/>
          </a:p>
          <a:p>
            <a:pPr>
              <a:defRPr sz="1400" b="1"/>
            </a:pPr>
            <a:r>
              <a:rPr dirty="0"/>
              <a:t>are the most expensive products to the NHS.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Geographic Insights: Expenditure by ICB</a:t>
            </a:r>
          </a:p>
        </p:txBody>
      </p:sp>
      <p:pic>
        <p:nvPicPr>
          <p:cNvPr id="3" name="Picture 2" descr="regional_cost_by_i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Insight: Regional focus should be on QWO and S1Y5D for resource allocation.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 Decisions: Investment &amp; Divestment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sz="2400" dirty="0"/>
              <a:t>✅ STRATEGIC INVESTMENTS (Choose):</a:t>
            </a:r>
          </a:p>
          <a:p>
            <a:r>
              <a:rPr sz="2400" dirty="0"/>
              <a:t>Invest heavily in Endocrine System and Central Nervous System categories as they represent the largest portion of NHS spending.</a:t>
            </a:r>
          </a:p>
          <a:p>
            <a:r>
              <a:rPr sz="2400" dirty="0"/>
              <a:t>Target sales and marketing efforts toward high-spending regions like ICBs: QWO and S1Y5D.</a:t>
            </a:r>
          </a:p>
          <a:p>
            <a:endParaRPr dirty="0"/>
          </a:p>
          <a:p>
            <a:r>
              <a:rPr sz="2400" dirty="0"/>
              <a:t>❌ AREAS TO DE-PRIORITIZE (Do Not Choose):</a:t>
            </a:r>
          </a:p>
          <a:p>
            <a:r>
              <a:rPr sz="2400" dirty="0"/>
              <a:t>Avoid over-investing in high-volume but low-cost generic categories where margins are razor thin.</a:t>
            </a:r>
          </a:p>
          <a:p>
            <a:r>
              <a:rPr sz="2400" dirty="0"/>
              <a:t>Deprioritize regions in the bottom quartile of ICB expenditure, as the ROI for commercial deployment there is minimal.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284</Words>
  <Application>Microsoft Office PowerPoint</Application>
  <PresentationFormat>On-screen Show (4:3)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Pharmaceutical Market &amp; Prescription Analytics</vt:lpstr>
      <vt:lpstr>Executive Summary &amp; Key Findings</vt:lpstr>
      <vt:lpstr>Market Dynamics: Prescription Volumes</vt:lpstr>
      <vt:lpstr>Market Dynamics: Expenditure (NIC)</vt:lpstr>
      <vt:lpstr>Product Deep Dive: Top Products by Cost</vt:lpstr>
      <vt:lpstr>Geographic Insights: Expenditure by ICB</vt:lpstr>
      <vt:lpstr>Commercial Decisions: Investment &amp; Divestment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Gajendra Lodhi</cp:lastModifiedBy>
  <cp:revision>2</cp:revision>
  <dcterms:created xsi:type="dcterms:W3CDTF">2013-01-27T09:14:16Z</dcterms:created>
  <dcterms:modified xsi:type="dcterms:W3CDTF">2026-10-03T09:24:19Z</dcterms:modified>
  <cp:category/>
</cp:coreProperties>
</file>